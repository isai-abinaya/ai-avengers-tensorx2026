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1E90FF">
              <a:alpha val="18000"/>
            </a:srgbClr>
          </a:solidFill>
          <a:ln w="12700">
            <a:solidFill>
              <a:srgbClr val="1E90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A14"/>
                </a:solidFill>
              </a:rPr>
              <a:t>AI HEALTHCARE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pPr indent="0" marL="0">
              <a:buNone/>
            </a:pPr>
            <a:r>
              <a:rPr lang="en-US" sz="7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pPr indent="0" marL="0">
              <a:buNone/>
            </a:pPr>
            <a:r>
              <a:rPr lang="en-US" sz="7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HEALTHCARE NAVIGATOR</a:t>
            </a:r>
            <a:endParaRPr lang="en-US" sz="1300" dirty="0"/>
          </a:p>
          <a:p>
            <a:pPr indent="0" marL="0">
              <a:buNone/>
            </a:pPr>
            <a:r>
              <a:rPr lang="en-US" sz="1300" b="1" spc="100" kern="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COST ESTIMATOR FOR INDIA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Go. Spend Wisely. Live Healthier.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2004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AI Avengers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Isai Abinaya S  •  Jafrin A  •  Anushya V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949440" y="44348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7122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434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90FF"/>
                </a:solidFill>
              </a:rPr>
              <a:t>TensorX 2026 National AI Hackathon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Healthcare Cost Crisis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606040" cy="1508760"/>
          </a:xfrm>
          <a:prstGeom prst="rect">
            <a:avLst/>
          </a:prstGeom>
          <a:solidFill>
            <a:srgbClr val="071220"/>
          </a:solidFill>
          <a:ln w="1905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087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01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pay out-of-pocket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389888"/>
            <a:ext cx="2606040" cy="1508760"/>
          </a:xfrm>
          <a:prstGeom prst="rect">
            <a:avLst/>
          </a:prstGeom>
          <a:solidFill>
            <a:srgbClr val="071220"/>
          </a:solidFill>
          <a:ln w="1905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50876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1901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24612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variation for same treatment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389888"/>
            <a:ext cx="2606040" cy="1508760"/>
          </a:xfrm>
          <a:prstGeom prst="rect">
            <a:avLst/>
          </a:prstGeom>
          <a:solidFill>
            <a:srgbClr val="071220"/>
          </a:solidFill>
          <a:ln w="1905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0876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1901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612648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patients with zero guidance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76D2"/>
                </a:solidFill>
              </a:rPr>
              <a:t>❝ </a:t>
            </a:r>
            <a:pPr indent="0" marL="0">
              <a:buNone/>
            </a:pPr>
            <a:r>
              <a:rPr lang="en-US" sz="1400" i="1" dirty="0">
                <a:solidFill>
                  <a:srgbClr val="E3F2FD"/>
                </a:solidFill>
              </a:rPr>
              <a:t>Families sell assets to pay hospital bills they never expected.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5720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walk in blind —</a:t>
            </a:r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cost estimate, no specialist guidance, no alternatives.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3886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Overcharging is rampant.</a:t>
            </a:r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 don't know what's fair — until it's too late.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India</a:t>
            </a:r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travels hours to see the wrong specialist, wasting money &amp; time.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76D2"/>
                </a:solidFill>
              </a:rPr>
              <a:t>The system is broken. Patients deserve better.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EXISTING 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Status Quo Fails Patients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1600200"/>
          </a:xfrm>
          <a:prstGeom prst="rect">
            <a:avLst/>
          </a:prstGeom>
          <a:solidFill>
            <a:srgbClr val="071220"/>
          </a:solidFill>
          <a:ln w="254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264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Transparency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9202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rarely publish treatment costs. Patients discover bills only after treatment.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61872"/>
            <a:ext cx="4114800" cy="1600200"/>
          </a:xfrm>
          <a:prstGeom prst="rect">
            <a:avLst/>
          </a:prstGeom>
          <a:solidFill>
            <a:srgbClr val="07122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3248" y="14264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Price Variation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19472" y="19202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surgery: ₹30K in one hospital, ₹3L in another. No standard benchmark exists.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090672"/>
            <a:ext cx="4114800" cy="1600200"/>
          </a:xfrm>
          <a:prstGeom prst="rect">
            <a:avLst/>
          </a:prstGeom>
          <a:solidFill>
            <a:srgbClr val="071220"/>
          </a:solidFill>
          <a:ln w="2540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9184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255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Guesswork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rely on hearsay and word-of-mouth to make critical health financial decisions.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090672"/>
            <a:ext cx="4114800" cy="1600200"/>
          </a:xfrm>
          <a:prstGeom prst="rect">
            <a:avLst/>
          </a:prstGeom>
          <a:solidFill>
            <a:srgbClr val="07122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918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13248" y="3255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Patients Hit Hardest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19472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internet, literacy barriers, and zero local resources leave rural India blind.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1E90F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 </a:t>
            </a:r>
            <a:pPr indent="0" marL="0">
              <a:buNone/>
            </a:pPr>
            <a:r>
              <a:rPr lang="en-US" sz="3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MedPath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Healthcare Navigator &amp; Cost Estimator for India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2651760"/>
          </a:xfrm>
          <a:prstGeom prst="rect">
            <a:avLst/>
          </a:prstGeom>
          <a:solidFill>
            <a:srgbClr val="071220"/>
          </a:solidFill>
          <a:ln w="254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84832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3273552"/>
            <a:ext cx="24323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 understands symptoms in plain language and maps them to the right specialist instantly.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920240"/>
            <a:ext cx="2651760" cy="2651760"/>
          </a:xfrm>
          <a:prstGeom prst="rect">
            <a:avLst/>
          </a:prstGeom>
          <a:solidFill>
            <a:srgbClr val="07122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08483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Prediction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55848" y="3273552"/>
            <a:ext cx="24323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trained on real Indian hospital data predicts fair treatment costs upfront.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920240"/>
            <a:ext cx="2651760" cy="2651760"/>
          </a:xfrm>
          <a:prstGeom prst="rect">
            <a:avLst/>
          </a:prstGeom>
          <a:solidFill>
            <a:srgbClr val="071220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084832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 Match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36208" y="3273552"/>
            <a:ext cx="24323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budget-appropriate hospitals ranked by cost, quality, and distance — rural included.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A14"/>
                </a:solidFill>
              </a:rPr>
              <a:t>⚡  WOW FEATURE: Real-time OVERPRICING ALERT — flags if a hospital's estimate exceeds 30% of the regional average.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HOW AI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Enough for Everyone. Smart Enough for Doctors.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965960" cy="2423160"/>
          </a:xfrm>
          <a:prstGeom prst="rect">
            <a:avLst/>
          </a:prstGeom>
          <a:solidFill>
            <a:srgbClr val="07122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1152144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10512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Input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926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symptoms in English, Hindi, or Tamil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2240280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496312" y="1261872"/>
            <a:ext cx="1965960" cy="2423160"/>
          </a:xfrm>
          <a:prstGeom prst="rect">
            <a:avLst/>
          </a:prstGeom>
          <a:solidFill>
            <a:srgbClr val="071220"/>
          </a:solidFill>
          <a:ln w="254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54680" y="1152144"/>
            <a:ext cx="640080" cy="64008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54680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1810512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96312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587752" y="2926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intent, extracts medical keywords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40280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72584" y="1261872"/>
            <a:ext cx="1965960" cy="2423160"/>
          </a:xfrm>
          <a:prstGeom prst="rect">
            <a:avLst/>
          </a:prstGeom>
          <a:solidFill>
            <a:srgbClr val="07122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30952" y="1152144"/>
            <a:ext cx="640080" cy="6400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330952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1810512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72584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Match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764024" y="2926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symptoms to the right doctor specialty</a:t>
            </a:r>
            <a:endParaRPr lang="en-US" sz="9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2240280"/>
            <a:ext cx="256032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848856" y="1261872"/>
            <a:ext cx="1965960" cy="2423160"/>
          </a:xfrm>
          <a:prstGeom prst="rect">
            <a:avLst/>
          </a:prstGeom>
          <a:solidFill>
            <a:srgbClr val="071220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07224" y="1152144"/>
            <a:ext cx="640080" cy="64008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507224" y="11521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1810512"/>
            <a:ext cx="640080" cy="6400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48856" y="2514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Prediction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940296" y="29260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predicts fair treatment cost range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320040" y="3886200"/>
            <a:ext cx="8503920" cy="777240"/>
          </a:xfrm>
          <a:prstGeom prst="rect">
            <a:avLst/>
          </a:prstGeom>
          <a:solidFill>
            <a:srgbClr val="07122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NLP (spaCy / BERT)  •  Scikit-learn Cost Regression Model  •  FastAPI Backend  •  React Native Frontend  •  Firebase for rural offline sync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Clean. Scalable. India-Ready.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98448"/>
            <a:ext cx="1508760" cy="2286000"/>
          </a:xfrm>
          <a:prstGeom prst="rect">
            <a:avLst/>
          </a:prstGeom>
          <a:solidFill>
            <a:srgbClr val="071220"/>
          </a:solidFill>
          <a:ln w="254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463040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21579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01752" y="272491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Multi-lingual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04288"/>
            <a:ext cx="2286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993392" y="1298448"/>
            <a:ext cx="1508760" cy="2286000"/>
          </a:xfrm>
          <a:prstGeom prst="rect">
            <a:avLst/>
          </a:prstGeom>
          <a:solidFill>
            <a:srgbClr val="071220"/>
          </a:solidFill>
          <a:ln w="254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1463040"/>
            <a:ext cx="621792" cy="6217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93392" y="21579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039112" y="272491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parsing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model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304288"/>
            <a:ext cx="228600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30752" y="1298448"/>
            <a:ext cx="1508760" cy="2286000"/>
          </a:xfrm>
          <a:prstGeom prst="rect">
            <a:avLst/>
          </a:prstGeom>
          <a:solidFill>
            <a:srgbClr val="07122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664" y="1463040"/>
            <a:ext cx="621792" cy="6217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0752" y="21579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3776472" y="272491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City-adjusted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304288"/>
            <a:ext cx="2286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468112" y="1298448"/>
            <a:ext cx="1508760" cy="2286000"/>
          </a:xfrm>
          <a:prstGeom prst="rect">
            <a:avLst/>
          </a:prstGeom>
          <a:solidFill>
            <a:srgbClr val="071220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7024" y="1463040"/>
            <a:ext cx="621792" cy="6217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68112" y="21579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00" dirty="0"/>
          </a:p>
        </p:txBody>
      </p:sp>
      <p:sp>
        <p:nvSpPr>
          <p:cNvPr id="22" name="Text 13"/>
          <p:cNvSpPr/>
          <p:nvPr/>
        </p:nvSpPr>
        <p:spPr>
          <a:xfrm>
            <a:off x="5513832" y="272491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Geo-ranking</a:t>
            </a:r>
            <a:endParaRPr lang="en-US" sz="9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2304288"/>
            <a:ext cx="228600" cy="22860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205472" y="1298448"/>
            <a:ext cx="1508760" cy="2286000"/>
          </a:xfrm>
          <a:prstGeom prst="rect">
            <a:avLst/>
          </a:prstGeom>
          <a:solidFill>
            <a:srgbClr val="071220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4384" y="1463040"/>
            <a:ext cx="621792" cy="62179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05472" y="215798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7" name="Text 16"/>
          <p:cNvSpPr/>
          <p:nvPr/>
        </p:nvSpPr>
        <p:spPr>
          <a:xfrm>
            <a:off x="7251192" y="272491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Alert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256032" y="3749040"/>
            <a:ext cx="8595360" cy="411480"/>
          </a:xfrm>
          <a:prstGeom prst="rect">
            <a:avLst/>
          </a:prstGeom>
          <a:solidFill>
            <a:srgbClr val="071220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256032" y="3749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📊  Hospital Cost Database  |  Government NHA Data  |  User Feedback Loop  |  District-level pricing index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315968"/>
            <a:ext cx="292608" cy="29260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85800" y="43159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Compliant  •  End-to-End Encrypted  •  No PHI Stored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KEY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MedPath AI Different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60520" cy="1600200"/>
          </a:xfrm>
          <a:prstGeom prst="rect">
            <a:avLst/>
          </a:prstGeom>
          <a:solidFill>
            <a:srgbClr val="071220"/>
          </a:solidFill>
          <a:ln w="3175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91440" cy="160020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447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4264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BEFORE Visit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" y="194767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fair price range for your condition before stepping into any hospital. No surprises.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27448" y="1261872"/>
            <a:ext cx="4160520" cy="1600200"/>
          </a:xfrm>
          <a:prstGeom prst="rect">
            <a:avLst/>
          </a:prstGeom>
          <a:solidFill>
            <a:srgbClr val="071220"/>
          </a:solidFill>
          <a:ln w="3175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7448" y="1261872"/>
            <a:ext cx="91440" cy="1600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4475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7256" y="14264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Overpricing Alert ⚠️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892040" y="194767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if a hospital quote is 30%+ above the regional fair average. Stay protected.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3090672"/>
            <a:ext cx="4160520" cy="1600200"/>
          </a:xfrm>
          <a:prstGeom prst="rect">
            <a:avLst/>
          </a:prstGeom>
          <a:solidFill>
            <a:srgbClr val="071220"/>
          </a:solidFill>
          <a:ln w="317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090672"/>
            <a:ext cx="9144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27355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3255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Budget-Based Hospital Finder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84632" y="377647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hospitals by budget, distance, and rating. Find the best care you can afford.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27448" y="3090672"/>
            <a:ext cx="4160520" cy="1600200"/>
          </a:xfrm>
          <a:prstGeom prst="rect">
            <a:avLst/>
          </a:prstGeom>
          <a:solidFill>
            <a:srgbClr val="071220"/>
          </a:solidFill>
          <a:ln w="317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27448" y="3090672"/>
            <a:ext cx="91440" cy="1600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27355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77256" y="3255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Rural-First Design 🌍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892040" y="3776472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mode, regional languages, low-data interface — built for Bharat, not just metros.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DEMO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 from Symptom to Smart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1965960" cy="3246120"/>
          </a:xfrm>
          <a:prstGeom prst="rect">
            <a:avLst/>
          </a:prstGeom>
          <a:solidFill>
            <a:srgbClr val="071220"/>
          </a:solidFill>
          <a:ln w="25400">
            <a:solidFill>
              <a:srgbClr val="1E9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61872"/>
            <a:ext cx="1965960" cy="38404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</a:rPr>
              <a:t>STEP 01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73936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Symptoms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576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"Chest pain, shortness of breath for 2 days"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3547872"/>
            <a:ext cx="1417320" cy="1828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3639312"/>
            <a:ext cx="1819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accepted in any language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50592" y="1261872"/>
            <a:ext cx="1965960" cy="3246120"/>
          </a:xfrm>
          <a:prstGeom prst="rect">
            <a:avLst/>
          </a:prstGeom>
          <a:solidFill>
            <a:srgbClr val="071220"/>
          </a:solidFill>
          <a:ln w="25400">
            <a:solidFill>
              <a:srgbClr val="63B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261872"/>
            <a:ext cx="1965960" cy="384048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0592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</a:rPr>
              <a:t>STEP 02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773936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50592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Specialist Match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542032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Cardiologist recommended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24912" y="3547872"/>
            <a:ext cx="1417320" cy="18288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23744" y="3639312"/>
            <a:ext cx="1819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score: 94%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26864" y="1261872"/>
            <a:ext cx="1965960" cy="3246120"/>
          </a:xfrm>
          <a:prstGeom prst="rect">
            <a:avLst/>
          </a:prstGeom>
          <a:solidFill>
            <a:srgbClr val="071220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26864" y="1261872"/>
            <a:ext cx="196596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26864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</a:rPr>
              <a:t>STEP 03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1773936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26864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Cost Estimate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718304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 – ₹22,000 (Chennai avg)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901184" y="3547872"/>
            <a:ext cx="1417320" cy="182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00016" y="3639312"/>
            <a:ext cx="1819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Overpricing alert if quoted ₹40K+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03136" y="1261872"/>
            <a:ext cx="1965960" cy="3246120"/>
          </a:xfrm>
          <a:prstGeom prst="rect">
            <a:avLst/>
          </a:prstGeom>
          <a:solidFill>
            <a:srgbClr val="071220"/>
          </a:solidFill>
          <a:ln w="2540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03136" y="1261872"/>
            <a:ext cx="1965960" cy="38404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03136" y="12618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0A14"/>
                </a:solidFill>
              </a:rPr>
              <a:t>STEP 04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773936"/>
            <a:ext cx="640080" cy="6400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03136" y="2468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Hospital Options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894576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hospitals matched to your budget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077456" y="3547872"/>
            <a:ext cx="1417320" cy="18288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876288" y="3639312"/>
            <a:ext cx="1819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cost, rating &amp; distance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FC3F7"/>
                </a:solidFill>
              </a:rPr>
              <a:t>Total time from symptom entry to decision: &lt; 30 seconds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IMPACT &amp; BENEFITS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Healthcare for 1.4 Billion Indians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234440"/>
          </a:xfrm>
          <a:prstGeom prst="rect">
            <a:avLst/>
          </a:prstGeom>
          <a:solidFill>
            <a:srgbClr val="071220"/>
          </a:solidFill>
          <a:ln w="3175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070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savings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per year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1234440"/>
          </a:xfrm>
          <a:prstGeom prst="rect">
            <a:avLst/>
          </a:prstGeom>
          <a:solidFill>
            <a:srgbClr val="071220"/>
          </a:solidFill>
          <a:ln w="317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070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specialist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2651760" cy="1234440"/>
          </a:xfrm>
          <a:prstGeom prst="rect">
            <a:avLst/>
          </a:prstGeom>
          <a:solidFill>
            <a:srgbClr val="071220"/>
          </a:solidFill>
          <a:ln w="317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20700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80760" y="1874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users who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this now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65176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25786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unnecessary out-of-pocket medical expenses for middle-class families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318211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72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patients to make informed decisions instead of guessing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71246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6393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healthcare price transparency across public &amp; private sectors</a:t>
            </a:r>
            <a:endParaRPr lang="en-US" sz="12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424281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16966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all 28 states with multilingual &amp; offline-first design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</a:rPr>
              <a:t>OUR 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every Indian</a:t>
            </a:r>
            <a:pPr algn="ctr" indent="0" marL="0">
              <a:buNone/>
            </a:pP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informed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affordable</a:t>
            </a:r>
            <a:pPr algn="ctr" indent="0" marL="0">
              <a:buNone/>
            </a:pP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decisions.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6700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Go. Spend Wisely. Live Healthier.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337560"/>
            <a:ext cx="2651760" cy="1234440"/>
          </a:xfrm>
          <a:prstGeom prst="rect">
            <a:avLst/>
          </a:prstGeom>
          <a:solidFill>
            <a:srgbClr val="07122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 Months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3913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Tamil Nadu, Karnataka, Maharashtra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3337560"/>
            <a:ext cx="2651760" cy="1234440"/>
          </a:xfrm>
          <a:prstGeom prst="rect">
            <a:avLst/>
          </a:prstGeom>
          <a:solidFill>
            <a:srgbClr val="07122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27832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832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Year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3913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rollout + govt. hospital integration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3337560"/>
            <a:ext cx="2651760" cy="1234440"/>
          </a:xfrm>
          <a:prstGeom prst="rect">
            <a:avLst/>
          </a:prstGeom>
          <a:solidFill>
            <a:srgbClr val="071220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3364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</a:rPr>
              <a:t>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08192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Years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39136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advisory + NHA policy alignment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AI Avengers  •  Isai Abinaya S  |  Jafrin A  |  Anushya V  •  TensorX 2026 National AI Hackathon</a:t>
            </a:r>
            <a:endParaRPr lang="en-US" sz="9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462272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MedPath AI – TensorX 2026 National AI Hackathon</dc:title>
  <dc:subject>PptxGenJS Presentation</dc:subject>
  <dc:creator>PptxGenJS</dc:creator>
  <cp:lastModifiedBy>PptxGenJS</cp:lastModifiedBy>
  <cp:revision>1</cp:revision>
  <dcterms:created xsi:type="dcterms:W3CDTF">2026-05-02T03:46:07Z</dcterms:created>
  <dcterms:modified xsi:type="dcterms:W3CDTF">2026-05-02T03:46:07Z</dcterms:modified>
</cp:coreProperties>
</file>